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4630400" cy="8229600"/>
  <p:notesSz cx="8229600" cy="146304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Trebuchet MS" panose="020B0603020202020204" pitchFamily="34" charset="0"/>
      <p:regular r:id="rId33"/>
      <p:bold r:id="rId34"/>
      <p:italic r:id="rId35"/>
      <p:boldItalic r:id="rId36"/>
    </p:embeddedFont>
    <p:embeddedFont>
      <p:font typeface="Trebuchet MS Bold" panose="020B0604020202020204" charset="0"/>
      <p:regular r:id="rId37"/>
    </p:embeddedFont>
    <p:embeddedFont>
      <p:font typeface="Varela Round" panose="020B0604020202020204" charset="-79"/>
      <p:regular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28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1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hyperlink" Target="https://github.com/raphaelbarretopro/3-navegacao-roteamento" TargetMode="Externa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5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861580" cy="8229600"/>
          </a:xfrm>
          <a:custGeom>
            <a:avLst/>
            <a:gdLst/>
            <a:ahLst/>
            <a:cxnLst/>
            <a:rect l="l" t="t" r="r" b="b"/>
            <a:pathLst>
              <a:path w="18576975" h="10287000">
                <a:moveTo>
                  <a:pt x="0" y="0"/>
                </a:moveTo>
                <a:lnTo>
                  <a:pt x="18576975" y="0"/>
                </a:lnTo>
                <a:lnTo>
                  <a:pt x="185769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17" y="-18029"/>
            <a:ext cx="14630400" cy="8247629"/>
            <a:chOff x="0" y="0"/>
            <a:chExt cx="24384000" cy="137460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46099"/>
            </a:xfrm>
            <a:custGeom>
              <a:avLst/>
              <a:gdLst/>
              <a:ahLst/>
              <a:cxnLst/>
              <a:rect l="l" t="t" r="r" b="b"/>
              <a:pathLst>
                <a:path w="24384000" h="13746099">
                  <a:moveTo>
                    <a:pt x="0" y="0"/>
                  </a:moveTo>
                  <a:lnTo>
                    <a:pt x="24384000" y="0"/>
                  </a:lnTo>
                  <a:lnTo>
                    <a:pt x="24384000" y="13746099"/>
                  </a:lnTo>
                  <a:lnTo>
                    <a:pt x="0" y="13746099"/>
                  </a:lnTo>
                  <a:close/>
                </a:path>
              </a:pathLst>
            </a:custGeom>
            <a:gradFill rotWithShape="1">
              <a:gsLst>
                <a:gs pos="0">
                  <a:srgbClr val="00ABDA">
                    <a:alpha val="0"/>
                  </a:srgbClr>
                </a:gs>
                <a:gs pos="5000">
                  <a:srgbClr val="00ABDA">
                    <a:alpha val="80000"/>
                  </a:srgbClr>
                </a:gs>
                <a:gs pos="79000">
                  <a:srgbClr val="382F2D">
                    <a:alpha val="80000"/>
                  </a:srgbClr>
                </a:gs>
                <a:gs pos="88398">
                  <a:srgbClr val="0082AD">
                    <a:alpha val="6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-2317" y="-18029"/>
            <a:ext cx="14630392" cy="8247629"/>
            <a:chOff x="0" y="0"/>
            <a:chExt cx="24383987" cy="13746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3746099"/>
            </a:xfrm>
            <a:custGeom>
              <a:avLst/>
              <a:gdLst/>
              <a:ahLst/>
              <a:cxnLst/>
              <a:rect l="l" t="t" r="r" b="b"/>
              <a:pathLst>
                <a:path w="24384000" h="13746099">
                  <a:moveTo>
                    <a:pt x="0" y="0"/>
                  </a:moveTo>
                  <a:lnTo>
                    <a:pt x="24384000" y="0"/>
                  </a:lnTo>
                  <a:lnTo>
                    <a:pt x="24384000" y="13746099"/>
                  </a:lnTo>
                  <a:lnTo>
                    <a:pt x="0" y="13746099"/>
                  </a:lnTo>
                  <a:close/>
                </a:path>
              </a:pathLst>
            </a:custGeom>
            <a:solidFill>
              <a:srgbClr val="382F2D">
                <a:alpha val="1568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62323" y="2203438"/>
            <a:ext cx="6389406" cy="3804697"/>
            <a:chOff x="0" y="0"/>
            <a:chExt cx="10649010" cy="63411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49061" cy="6341110"/>
            </a:xfrm>
            <a:custGeom>
              <a:avLst/>
              <a:gdLst/>
              <a:ahLst/>
              <a:cxnLst/>
              <a:rect l="l" t="t" r="r" b="b"/>
              <a:pathLst>
                <a:path w="10649061" h="6341110">
                  <a:moveTo>
                    <a:pt x="0" y="0"/>
                  </a:moveTo>
                  <a:lnTo>
                    <a:pt x="10649061" y="0"/>
                  </a:lnTo>
                  <a:lnTo>
                    <a:pt x="10649061" y="6341110"/>
                  </a:lnTo>
                  <a:lnTo>
                    <a:pt x="0" y="6341110"/>
                  </a:lnTo>
                  <a:close/>
                </a:path>
              </a:pathLst>
            </a:custGeom>
            <a:solidFill>
              <a:srgbClr val="382F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Freeform 9"/>
          <p:cNvSpPr/>
          <p:nvPr/>
        </p:nvSpPr>
        <p:spPr>
          <a:xfrm>
            <a:off x="437282" y="5079347"/>
            <a:ext cx="3641385" cy="2802682"/>
          </a:xfrm>
          <a:custGeom>
            <a:avLst/>
            <a:gdLst/>
            <a:ahLst/>
            <a:cxnLst/>
            <a:rect l="l" t="t" r="r" b="b"/>
            <a:pathLst>
              <a:path w="4551731" h="3503352">
                <a:moveTo>
                  <a:pt x="0" y="0"/>
                </a:moveTo>
                <a:lnTo>
                  <a:pt x="4551730" y="0"/>
                </a:lnTo>
                <a:lnTo>
                  <a:pt x="4551730" y="3503352"/>
                </a:lnTo>
                <a:lnTo>
                  <a:pt x="0" y="3503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8" b="-14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765661" y="7534451"/>
            <a:ext cx="1094446" cy="695150"/>
            <a:chOff x="0" y="0"/>
            <a:chExt cx="1824076" cy="1158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4101" cy="1158621"/>
            </a:xfrm>
            <a:custGeom>
              <a:avLst/>
              <a:gdLst/>
              <a:ahLst/>
              <a:cxnLst/>
              <a:rect l="l" t="t" r="r" b="b"/>
              <a:pathLst>
                <a:path w="1824101" h="1158621">
                  <a:moveTo>
                    <a:pt x="0" y="0"/>
                  </a:moveTo>
                  <a:lnTo>
                    <a:pt x="1824101" y="0"/>
                  </a:lnTo>
                  <a:lnTo>
                    <a:pt x="1824101" y="1158621"/>
                  </a:lnTo>
                  <a:lnTo>
                    <a:pt x="0" y="1158621"/>
                  </a:lnTo>
                  <a:close/>
                </a:path>
              </a:pathLst>
            </a:custGeom>
            <a:solidFill>
              <a:srgbClr val="382F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97933" y="2357313"/>
            <a:ext cx="7608480" cy="2114103"/>
            <a:chOff x="0" y="0"/>
            <a:chExt cx="12680800" cy="3523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80801" cy="3523504"/>
            </a:xfrm>
            <a:custGeom>
              <a:avLst/>
              <a:gdLst/>
              <a:ahLst/>
              <a:cxnLst/>
              <a:rect l="l" t="t" r="r" b="b"/>
              <a:pathLst>
                <a:path w="12680801" h="3523504">
                  <a:moveTo>
                    <a:pt x="0" y="0"/>
                  </a:moveTo>
                  <a:lnTo>
                    <a:pt x="12680801" y="0"/>
                  </a:lnTo>
                  <a:lnTo>
                    <a:pt x="12680801" y="3523504"/>
                  </a:lnTo>
                  <a:lnTo>
                    <a:pt x="0" y="3523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680800" cy="353303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184"/>
                </a:lnSpc>
              </a:pPr>
              <a:r>
                <a:rPr lang="en-US" sz="432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Desenvolvimento de Aplicativo Mobile</a:t>
              </a:r>
            </a:p>
            <a:p>
              <a:pPr algn="ctr">
                <a:lnSpc>
                  <a:spcPts val="5184"/>
                </a:lnSpc>
              </a:pPr>
              <a:endParaRPr lang="en-US" sz="4320" b="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16128" y="5587799"/>
            <a:ext cx="4229324" cy="560531"/>
            <a:chOff x="0" y="0"/>
            <a:chExt cx="7048873" cy="9342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8871" cy="934215"/>
            </a:xfrm>
            <a:custGeom>
              <a:avLst/>
              <a:gdLst/>
              <a:ahLst/>
              <a:cxnLst/>
              <a:rect l="l" t="t" r="r" b="b"/>
              <a:pathLst>
                <a:path w="7048871" h="934215">
                  <a:moveTo>
                    <a:pt x="0" y="0"/>
                  </a:moveTo>
                  <a:lnTo>
                    <a:pt x="7048871" y="0"/>
                  </a:lnTo>
                  <a:lnTo>
                    <a:pt x="7048871" y="934215"/>
                  </a:lnTo>
                  <a:lnTo>
                    <a:pt x="0" y="934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048873" cy="95326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b"/>
            <a:lstStyle/>
            <a:p>
              <a:pPr algn="ctr">
                <a:lnSpc>
                  <a:spcPts val="2016"/>
                </a:lnSpc>
              </a:pPr>
              <a:r>
                <a:rPr lang="en-US" sz="168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raphael.b.oliveira@docente.senai.br</a:t>
              </a:r>
            </a:p>
            <a:p>
              <a:pPr algn="ctr">
                <a:lnSpc>
                  <a:spcPts val="2016"/>
                </a:lnSpc>
              </a:pPr>
              <a:endParaRPr lang="en-US" sz="168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321104" y="4098166"/>
            <a:ext cx="4478358" cy="98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16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 base desenvolvido pelo Prof. Raphael Barreto</a:t>
            </a:r>
          </a:p>
          <a:p>
            <a:pPr algn="ctr">
              <a:lnSpc>
                <a:spcPts val="2592"/>
              </a:lnSpc>
            </a:pPr>
            <a:endParaRPr lang="en-US" sz="216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20735" y="7540059"/>
            <a:ext cx="784304" cy="31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160" b="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2026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050972" y="5490683"/>
            <a:ext cx="2528457" cy="2286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6770294" y="7860586"/>
            <a:ext cx="1089813" cy="332400"/>
            <a:chOff x="0" y="0"/>
            <a:chExt cx="1816354" cy="55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16360" cy="554001"/>
            </a:xfrm>
            <a:custGeom>
              <a:avLst/>
              <a:gdLst/>
              <a:ahLst/>
              <a:cxnLst/>
              <a:rect l="l" t="t" r="r" b="b"/>
              <a:pathLst>
                <a:path w="1816360" h="554001">
                  <a:moveTo>
                    <a:pt x="0" y="0"/>
                  </a:moveTo>
                  <a:lnTo>
                    <a:pt x="1816360" y="0"/>
                  </a:lnTo>
                  <a:lnTo>
                    <a:pt x="1816360" y="554001"/>
                  </a:lnTo>
                  <a:lnTo>
                    <a:pt x="0" y="5540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816354" cy="573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728"/>
                </a:lnSpc>
              </a:pPr>
              <a:r>
                <a:rPr lang="en-US" sz="144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DEC - GEP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71996" y="201176"/>
            <a:ext cx="1342797" cy="582724"/>
          </a:xfrm>
          <a:custGeom>
            <a:avLst/>
            <a:gdLst/>
            <a:ahLst/>
            <a:cxnLst/>
            <a:rect l="l" t="t" r="r" b="b"/>
            <a:pathLst>
              <a:path w="1678496" h="728405">
                <a:moveTo>
                  <a:pt x="0" y="0"/>
                </a:moveTo>
                <a:lnTo>
                  <a:pt x="1678495" y="0"/>
                </a:lnTo>
                <a:lnTo>
                  <a:pt x="1678495" y="728405"/>
                </a:lnTo>
                <a:lnTo>
                  <a:pt x="0" y="728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2" b="-12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8131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Parâmetros na Rota, Rotas Aninhadas e Tela de Not Found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191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Desenvolvimento Front-End com React Native e Expo Router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4967526"/>
            <a:ext cx="1168241" cy="373142"/>
          </a:xfrm>
          <a:prstGeom prst="roundRect">
            <a:avLst>
              <a:gd name="adj" fmla="val 17872"/>
            </a:avLst>
          </a:prstGeom>
          <a:solidFill>
            <a:srgbClr val="D2F1F9"/>
          </a:solidFill>
          <a:ln/>
        </p:spPr>
      </p:sp>
      <p:sp>
        <p:nvSpPr>
          <p:cNvPr id="6" name="Text 3"/>
          <p:cNvSpPr/>
          <p:nvPr/>
        </p:nvSpPr>
        <p:spPr>
          <a:xfrm>
            <a:off x="912852" y="5027057"/>
            <a:ext cx="9301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SENAI 2026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061210" y="4959906"/>
            <a:ext cx="2259806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54C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87893" y="5027057"/>
            <a:ext cx="20064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4C8E8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NAVEGAÇÃO AVANÇADA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251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Sumário da Aula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93790" y="1553885"/>
            <a:ext cx="13042821" cy="107168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576745"/>
            <a:ext cx="714494" cy="1025962"/>
          </a:xfrm>
          <a:prstGeom prst="roundRect">
            <a:avLst>
              <a:gd name="adj" fmla="val 6661"/>
            </a:avLst>
          </a:prstGeom>
          <a:solidFill>
            <a:srgbClr val="D2F1F9"/>
          </a:solidFill>
          <a:ln/>
        </p:spPr>
      </p:sp>
      <p:sp>
        <p:nvSpPr>
          <p:cNvPr id="5" name="Text 3"/>
          <p:cNvSpPr/>
          <p:nvPr/>
        </p:nvSpPr>
        <p:spPr>
          <a:xfrm>
            <a:off x="1036082" y="1922264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91878" y="175533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Rotas Aninhadas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691878" y="2130743"/>
            <a:ext cx="11943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Organização de caminhos através de pastas e estrutura hierárquica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2786301"/>
            <a:ext cx="13042821" cy="107168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650" y="2809161"/>
            <a:ext cx="714494" cy="1025962"/>
          </a:xfrm>
          <a:prstGeom prst="roundRect">
            <a:avLst>
              <a:gd name="adj" fmla="val 6661"/>
            </a:avLst>
          </a:prstGeom>
          <a:solidFill>
            <a:srgbClr val="D2F1F9"/>
          </a:solidFill>
          <a:ln/>
        </p:spPr>
      </p:sp>
      <p:sp>
        <p:nvSpPr>
          <p:cNvPr id="10" name="Text 8"/>
          <p:cNvSpPr/>
          <p:nvPr/>
        </p:nvSpPr>
        <p:spPr>
          <a:xfrm>
            <a:off x="1036082" y="315468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1878" y="2987754"/>
            <a:ext cx="238422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Parâmetros Dinâmicos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691878" y="3363158"/>
            <a:ext cx="11943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Criação de rotas com valores variáveis usando colchetes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3790" y="4018717"/>
            <a:ext cx="13042821" cy="107168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650" y="4041577"/>
            <a:ext cx="714494" cy="1025962"/>
          </a:xfrm>
          <a:prstGeom prst="roundRect">
            <a:avLst>
              <a:gd name="adj" fmla="val 6661"/>
            </a:avLst>
          </a:prstGeom>
          <a:solidFill>
            <a:srgbClr val="D2F1F9"/>
          </a:solidFill>
          <a:ln/>
        </p:spPr>
      </p:sp>
      <p:sp>
        <p:nvSpPr>
          <p:cNvPr id="15" name="Text 13"/>
          <p:cNvSpPr/>
          <p:nvPr/>
        </p:nvSpPr>
        <p:spPr>
          <a:xfrm>
            <a:off x="1036082" y="438709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91878" y="4220170"/>
            <a:ext cx="306204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Hook useLocalSearchParams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91878" y="4595574"/>
            <a:ext cx="11943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Captura e utilização de parâmetros nas rotas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3790" y="5251133"/>
            <a:ext cx="13042821" cy="107168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650" y="5273993"/>
            <a:ext cx="714494" cy="1025962"/>
          </a:xfrm>
          <a:prstGeom prst="roundRect">
            <a:avLst>
              <a:gd name="adj" fmla="val 6661"/>
            </a:avLst>
          </a:prstGeom>
          <a:solidFill>
            <a:srgbClr val="D2F1F9"/>
          </a:solidFill>
          <a:ln/>
        </p:spPr>
      </p:sp>
      <p:sp>
        <p:nvSpPr>
          <p:cNvPr id="20" name="Text 18"/>
          <p:cNvSpPr/>
          <p:nvPr/>
        </p:nvSpPr>
        <p:spPr>
          <a:xfrm>
            <a:off x="1036082" y="561951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91878" y="545258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Tela de Not Found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691878" y="5827990"/>
            <a:ext cx="11943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Criação de página personalizada para erros 404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3790" y="6483548"/>
            <a:ext cx="13042821" cy="1071682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650" y="6506408"/>
            <a:ext cx="714494" cy="1025962"/>
          </a:xfrm>
          <a:prstGeom prst="roundRect">
            <a:avLst>
              <a:gd name="adj" fmla="val 6661"/>
            </a:avLst>
          </a:prstGeom>
          <a:solidFill>
            <a:srgbClr val="D2F1F9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082" y="6851928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691878" y="668500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Prática Completa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691878" y="7060406"/>
            <a:ext cx="119432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Implementação do código funcional completo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270885"/>
            <a:ext cx="1534597" cy="373142"/>
          </a:xfrm>
          <a:prstGeom prst="roundRect">
            <a:avLst>
              <a:gd name="adj" fmla="val 17872"/>
            </a:avLst>
          </a:prstGeom>
          <a:solidFill>
            <a:srgbClr val="D2F1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3378041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3330416"/>
            <a:ext cx="105846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CAPÍTULO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723323"/>
            <a:ext cx="104803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Rotas Aninhadas: Organizando a Navegação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410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Parâmetros na Rota, Rotas Aninhadas e Tela de Not Found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87823"/>
            <a:ext cx="68903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O Que São Rotas Aninhadas?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50555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Rotas aninhadas permitem organizar seus caminhos de navegação de forma hierárquica, similar à estrutura de pastas no seu computador. Ao invés de ter todas as páginas no mesmo nível, você pode agrupá-las logicamente.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681418"/>
            <a:ext cx="7556421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Por exemplo, todas as páginas relacionadas a produtos ficam dentro de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como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/products/lista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ou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/products/detalhes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. Isso facilita a manutenção e torna a estrutura do projeto mais intuitiva e escalável.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1750"/>
            <a:ext cx="69732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Criando a Estrutura de Pastas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37842"/>
            <a:ext cx="25931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Antes da Organização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246358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Arquivos soltos na pasta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750112"/>
            <a:ext cx="6279356" cy="158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index.jsx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settings.jsx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user.jsx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products.jsx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product-detail.jsx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3896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Estrutura desorganizada e difícil de escalar conforme o projeto cresce.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737842"/>
            <a:ext cx="27191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Depois da Organização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246358"/>
            <a:ext cx="62793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Estrutura hierárquica com pasta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750112"/>
            <a:ext cx="6279356" cy="190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app/index.jsx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app/settings.jsx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app/user.jsx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app/products/index.jsx (substituiu products por index)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app/products/detalhes.jsx (substituiu product-detail por details)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5565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Agrupamento lógico facilita navegação e manutenção do código.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5978"/>
            <a:ext cx="98319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O Arquivo Index: Página Principal da Rota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72891"/>
            <a:ext cx="6422231" cy="1839516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172891"/>
            <a:ext cx="91440" cy="1839516"/>
          </a:xfrm>
          <a:prstGeom prst="roundRect">
            <a:avLst>
              <a:gd name="adj" fmla="val 91163"/>
            </a:avLst>
          </a:prstGeom>
          <a:solidFill>
            <a:srgbClr val="54C8E8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3941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Função do Index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2823329"/>
            <a:ext cx="5911215" cy="96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Dentro de cada pasta, o arquivo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index.jsx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representa a página principal daquela rota. Quando o usuário acessa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é o index que será renderizado.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172891"/>
            <a:ext cx="6422231" cy="1839516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22860">
            <a:solidFill>
              <a:srgbClr val="B8D7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172891"/>
            <a:ext cx="91440" cy="1839516"/>
          </a:xfrm>
          <a:prstGeom prst="roundRect">
            <a:avLst>
              <a:gd name="adj" fmla="val 91163"/>
            </a:avLst>
          </a:prstGeom>
          <a:solidFill>
            <a:srgbClr val="54C8E8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394109"/>
            <a:ext cx="3413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Convenção de Nomenclatura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2823329"/>
            <a:ext cx="5911215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nome do componente React pode ser qualquer um, mas o </a:t>
            </a:r>
            <a:r>
              <a:rPr lang="en-US" sz="1550" b="1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nome do arquivo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deve ser exatamente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index.jsx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. Isso permite que o Expo Router identifique automaticamente a rota raiz.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235648"/>
            <a:ext cx="13042821" cy="2837974"/>
          </a:xfrm>
          <a:prstGeom prst="roundRect">
            <a:avLst>
              <a:gd name="adj" fmla="val 2937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83908" y="4235648"/>
            <a:ext cx="13062585" cy="2837974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982266" y="4384477"/>
            <a:ext cx="1266586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app/products/index.jsx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Products()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(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&lt;View&gt;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&lt;Text&gt;Lista de Produtos&lt;/Text&gt;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&lt;/View&gt;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2804"/>
            <a:ext cx="98498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Configurando Rotas Aninhadas no Layout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49717"/>
            <a:ext cx="1304282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Após criar a estrutura de pastas, é necessário registrar as rotas no componente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layout.jsx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. A Stack reconhece automaticamente a hierarquia baseada nos nomes dos arquivos e pastas.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4315658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4315658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4464487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 name="products" options={{ headerTitle: "Produtos"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 name="products/details" options={{ headerTitle: "Detalhes" }} /&gt;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471636"/>
            <a:ext cx="1304282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Note que 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segue o caminho da pasta seguido pelo nome do arquivo. A barra (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) indica a hierarquia da navegação.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270885"/>
            <a:ext cx="1534597" cy="373142"/>
          </a:xfrm>
          <a:prstGeom prst="roundRect">
            <a:avLst>
              <a:gd name="adj" fmla="val 17872"/>
            </a:avLst>
          </a:prstGeom>
          <a:solidFill>
            <a:srgbClr val="D2F1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3378041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3330416"/>
            <a:ext cx="105846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CAPÍTULO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723323"/>
            <a:ext cx="77352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Parâmetros Dinâmicos nas Rotas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410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Parâmetros na Rota, Rotas Aninhadas e Tela de Not Found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97436"/>
            <a:ext cx="96508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 Necessidade de Parâmetros Dinâmicos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1517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Quando trabalhamos com listas de itens - produtos, usuários, posts - precisamos que a mesma página exiba diferentes conteúdos baseados em um identificador único. Ao invés de criar uma rota separada para cada produto, usamos parâmetros dinâmicos.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073491"/>
            <a:ext cx="1304282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Por exemplo,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/products/2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e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/products/100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podem todas usar o mesmo componente, apenas alterando o ID que é passado como parâmetro na URL.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9394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Na página principal de produtos app/products/index.jsx adicionamos o seguinte código: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6480215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3908" y="6480215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82266" y="6629043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push href="/products/1"&gt;Produto 1 &lt;/Link&gt;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push href="/products/2"&gt;Produto 2 &lt;/Link&gt;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9794"/>
            <a:ext cx="88923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Sintaxe de Parâmetros com Colchetes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00770"/>
            <a:ext cx="3040499" cy="2074545"/>
          </a:xfrm>
          <a:prstGeom prst="roundRect">
            <a:avLst>
              <a:gd name="adj" fmla="val 4018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Arquivo Estático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4015264"/>
            <a:ext cx="262854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details.jsx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9768" y="4519017"/>
            <a:ext cx="262854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Rota fixa: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/products/details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032647" y="3300770"/>
            <a:ext cx="3040499" cy="2074545"/>
          </a:xfrm>
          <a:prstGeom prst="roundRect">
            <a:avLst>
              <a:gd name="adj" fmla="val 4018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8625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Arquivo Dinâmico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38625" y="4015264"/>
            <a:ext cx="262854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[id].jsx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38625" y="4519017"/>
            <a:ext cx="262854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Rota variável: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/products/2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etc.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32758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Como Funciona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64874" y="3784402"/>
            <a:ext cx="6279356" cy="1277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Os </a:t>
            </a:r>
            <a:r>
              <a:rPr lang="en-US" sz="1550" b="1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colchetes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no nome do arquivo indicam que aquele segmento da rota é um parâmetro variável. O nome dentro dos colchetes (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no exemplo) será o nome da variável que você poderá acessar no código.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240774"/>
            <a:ext cx="6279356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Você escolhe o nome que fizer mais sentido: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[id]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[slug]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[productId]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, etc.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5713"/>
            <a:ext cx="86476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Atualizando a Stack com Parâmetros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12626"/>
            <a:ext cx="1304282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Quando renomeamos o arquivo para incluir parâmetros dinâmicos, devemos atualizar também a configuração da Stack no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layout.jsx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61028"/>
            <a:ext cx="13042821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461028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609856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 name="products/[id]" options={{ headerTitle: "Detalhes" }} /&gt;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299466"/>
            <a:ext cx="1304282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deve refletir exatamente o caminho do arquivo, incluindo os colchetes. Isso informa ao Expo Router que essa rota aceita um parâmetro chamado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5173028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BCE9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468302"/>
            <a:ext cx="248007" cy="198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513" y="542091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Importante: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Sempre que modificar a estrutura de navegação, feche e abra novamente o aplicativo para garantir que as mudanças sejam reconhecidas corretamente.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8625"/>
            <a:ext cx="123696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Capturando Parâmetros com useLocalSearchParams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19601"/>
            <a:ext cx="6279356" cy="4108133"/>
          </a:xfrm>
          <a:prstGeom prst="roundRect">
            <a:avLst>
              <a:gd name="adj" fmla="val 2029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519601"/>
            <a:ext cx="6299121" cy="410813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668429"/>
            <a:ext cx="5902404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app/products/[id].jsx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useLocalSearchParams } from "expo-router"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ProductDetail()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id } = useLocalSearchParams()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&lt;Text&gt;Produto ID: {id}&lt;/Text&gt;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4947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Como Usar o Hook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003233"/>
            <a:ext cx="6279356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hook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useLocalSearchParams()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retorna um objeto contendo todos os parâmetros da rota atual. Usamos desestruturação para extrair o parâmetro específico que precisamos.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142065"/>
            <a:ext cx="6279356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nome da variável (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) deve corresponder ao nome usado nos colchetes do arquivo. Com isso, você pode usar o valor dinamicamente em qualquer lugar do componente.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9525"/>
            <a:ext cx="93939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Navegando para Rotas com Parâmetros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88643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Para navegar para uma rota dinâmica, você simplesmente passa o valor desejado no caminho: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4427220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4427220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4576048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app/products/index.jsx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push href="/products/1"&gt;Produto 1&lt;/link&gt; 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270885"/>
            <a:ext cx="1534597" cy="373142"/>
          </a:xfrm>
          <a:prstGeom prst="roundRect">
            <a:avLst>
              <a:gd name="adj" fmla="val 17872"/>
            </a:avLst>
          </a:prstGeom>
          <a:solidFill>
            <a:srgbClr val="D2F1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3378041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3330416"/>
            <a:ext cx="105846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CAPÍTULO 03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723323"/>
            <a:ext cx="108727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Criando uma Tela de Not Found Personalizada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410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Parâmetros na Rota, Rotas Aninhadas e Tela de Not Found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159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Por Que Personalizar a Página de Erro?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1940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Por padrão, o Expo Router exibe uma página genérica de erro quando o usuário tenta acessar uma rota inexistente. Embora funcional, essa tela padrão não reflete a identidade visual do seu aplicativo.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99526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Criar uma página de Not Found personalizada permite oferecer uma experiência mais amigável ao usuário, com mensagens claras e opções de navegação para retornar às áreas principais do app.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873"/>
            <a:ext cx="702909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Criando o Arquivo +not-found.jsx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844873"/>
            <a:ext cx="307252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Convenção de Nomenclatura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284571"/>
            <a:ext cx="6303526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arquivo deve ser criado na raiz da pasta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com o nome exato: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708315"/>
            <a:ext cx="6303526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+not-found.jsx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132058"/>
            <a:ext cx="6303526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 símbolo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no início é obrigatório e indica que este é um arquivo especial de erro. Não use letras maiúsculas no nome.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0704" y="1864995"/>
            <a:ext cx="6303526" cy="4882753"/>
          </a:xfrm>
          <a:prstGeom prst="roundRect">
            <a:avLst>
              <a:gd name="adj" fmla="val 1536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531775" y="1864995"/>
            <a:ext cx="6321385" cy="4882753"/>
          </a:xfrm>
          <a:prstGeom prst="roundRect">
            <a:avLst>
              <a:gd name="adj" fmla="val 54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710368" y="1998940"/>
            <a:ext cx="5964198" cy="4614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router } from "expo-router"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Pressable, Text, View } from "react-native"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styles } from "../styles/styles"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NotFound()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goToHome = () =&gt;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router.replace("/")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&lt;View style={[styles.container, { backgroundColor: "#F7D9C4" }]}&gt;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&lt;Text&gt;Essa página não existe&lt;/Text&gt;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&lt;Pressable onPress={goToHome}&gt;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&lt;Text&gt; Ir para Home&lt;/Text&gt;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&lt;/Pressable&gt;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&lt;/View&gt;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0704" y="6928604"/>
            <a:ext cx="630352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905"/>
            <a:ext cx="85161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Registrando a Rota de Erro na Stack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381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 tela de Not Found deve ser registrada como a </a:t>
            </a:r>
            <a:r>
              <a:rPr lang="en-US" sz="1550" b="1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última rota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na Stack. Isso garante que, se nenhuma outra rota corresponder ao caminho acessado, o usuário será direcionado para esta página de erro.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32140"/>
            <a:ext cx="13042821" cy="2520434"/>
          </a:xfrm>
          <a:prstGeom prst="roundRect">
            <a:avLst>
              <a:gd name="adj" fmla="val 33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832140"/>
            <a:ext cx="13062585" cy="2520434"/>
          </a:xfrm>
          <a:prstGeom prst="roundRect">
            <a:avLst>
              <a:gd name="adj" fmla="val 118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980968"/>
            <a:ext cx="126658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name="index" options={{ headerTitle: "Home"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name="settings" options={{ headerTitle: "Configurações"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name="products" options={{ headerTitle: "Produtos"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name="products/[id]" options={{ headerTitle: "Detalhes"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name="+not-found" options={{ headerTitle: "ERRO", headerLeft: () =&gt; null }} /&gt;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&lt;/Stack&gt;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5758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 ordem é importante: rotas específicas primeiro, rota de erro por último.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1165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para testar a página de erro, registre em app/products/index.jps uma rota inexistente: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6657380"/>
            <a:ext cx="13042821" cy="615196"/>
          </a:xfrm>
          <a:prstGeom prst="roundRect">
            <a:avLst>
              <a:gd name="adj" fmla="val 1355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83908" y="6657380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982266" y="6806208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push href="/rssrsrss"&gt; Ir para ERRO&lt;/Link&gt;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7351"/>
            <a:ext cx="78989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Usando Replace ao Invés de Push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81920"/>
            <a:ext cx="6422231" cy="210681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95906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54C8E8"/>
          </a:solidFill>
          <a:ln/>
        </p:spPr>
      </p:sp>
      <p:sp>
        <p:nvSpPr>
          <p:cNvPr id="5" name="Shape 3"/>
          <p:cNvSpPr/>
          <p:nvPr/>
        </p:nvSpPr>
        <p:spPr>
          <a:xfrm>
            <a:off x="3707249" y="268426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4C8E8"/>
          </a:solidFill>
          <a:ln/>
        </p:spPr>
      </p:sp>
      <p:sp>
        <p:nvSpPr>
          <p:cNvPr id="6" name="Text 4"/>
          <p:cNvSpPr/>
          <p:nvPr/>
        </p:nvSpPr>
        <p:spPr>
          <a:xfrm>
            <a:off x="3885843" y="283309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15008" y="34780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Problema com Push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3907274"/>
            <a:ext cx="5979795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Se usar navegação normal (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ou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router.push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), o usuário pode pressionar "voltar" e retornar à página de erro, criando uma experiência confusa.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981920"/>
            <a:ext cx="6422231" cy="210681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14379" y="295906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54C8E8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7838" y="268426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4C8E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06432" y="283309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35597" y="3478054"/>
            <a:ext cx="25235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Solução com Replace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3907274"/>
            <a:ext cx="5979795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Use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router.replace("/")</a:t>
            </a: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para substituir a página de erro pela Home na pilha de navegação. Assim, ao pressionar "voltar", o usuário não retorna ao erro.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311973"/>
            <a:ext cx="13042821" cy="1250275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83908" y="5311973"/>
            <a:ext cx="13062585" cy="12502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982266" y="5460802"/>
            <a:ext cx="1266586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const goToHome = () =&gt;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router.replace("/")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59318"/>
            <a:ext cx="1534597" cy="373142"/>
          </a:xfrm>
          <a:prstGeom prst="roundRect">
            <a:avLst>
              <a:gd name="adj" fmla="val 17872"/>
            </a:avLst>
          </a:prstGeom>
          <a:solidFill>
            <a:srgbClr val="D2F1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2266474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2218849"/>
            <a:ext cx="105846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CAPÍTULO 04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611755"/>
            <a:ext cx="69394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Código Completo e Funcional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352948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Veja a implementação completa de todos os conceitos apresentados</a:t>
            </a:r>
            <a:endParaRPr lang="en-US" sz="1550" dirty="0"/>
          </a:p>
        </p:txBody>
      </p:sp>
      <p:pic>
        <p:nvPicPr>
          <p:cNvPr id="7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070271"/>
            <a:ext cx="13042821" cy="19998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430"/>
            <a:ext cx="6102668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Estrutura Completa do Projeto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676757"/>
            <a:ext cx="4297442" cy="1008936"/>
          </a:xfrm>
          <a:prstGeom prst="roundRect">
            <a:avLst>
              <a:gd name="adj" fmla="val 7023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002" y="185297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app/layout.jsx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70002" y="2259806"/>
            <a:ext cx="394501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Configuração da Stack com todas as rotas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3790" y="2829044"/>
            <a:ext cx="4297442" cy="1008936"/>
          </a:xfrm>
          <a:prstGeom prst="roundRect">
            <a:avLst>
              <a:gd name="adj" fmla="val 7023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0002" y="300525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app/index.jsx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0002" y="3412093"/>
            <a:ext cx="394501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Página inicial com links de navegação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3790" y="3654544"/>
            <a:ext cx="4297442" cy="1008936"/>
          </a:xfrm>
          <a:prstGeom prst="roundRect">
            <a:avLst>
              <a:gd name="adj" fmla="val 7023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002" y="3830757"/>
            <a:ext cx="233124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app/products/index.jsx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0002" y="4237593"/>
            <a:ext cx="394501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Lista de produtos com links dinâmicos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790" y="4806831"/>
            <a:ext cx="4297442" cy="1008936"/>
          </a:xfrm>
          <a:prstGeom prst="roundRect">
            <a:avLst>
              <a:gd name="adj" fmla="val 7023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0002" y="498304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app/products/[id].jsx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0002" y="5389880"/>
            <a:ext cx="394501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Detalhes do produto com parâmetro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3790" y="5959118"/>
            <a:ext cx="4297442" cy="1008936"/>
          </a:xfrm>
          <a:prstGeom prst="roundRect">
            <a:avLst>
              <a:gd name="adj" fmla="val 7023"/>
            </a:avLst>
          </a:prstGeom>
          <a:solidFill>
            <a:srgbClr val="D2F1F9"/>
          </a:solidFill>
          <a:ln w="7620">
            <a:solidFill>
              <a:srgbClr val="B8D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002" y="613533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app/+not-found.jsx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0002" y="6542167"/>
            <a:ext cx="394501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Página de erro personalizada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10332" y="1658898"/>
            <a:ext cx="24113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82AD"/>
                </a:solidFill>
                <a:latin typeface="Varela Round Bold" pitchFamily="34" charset="0"/>
                <a:ea typeface="Varela Round Bold" pitchFamily="34" charset="-122"/>
                <a:cs typeface="Varela Round Bold" pitchFamily="34" charset="-120"/>
              </a:rPr>
              <a:t>Principais Aprendizados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510332" y="2065734"/>
            <a:ext cx="8333780" cy="149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Rotas aninhadas organizam a navegação em hierarquias lógicas usando pastas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Arquivos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index.jsx</a:t>
            </a: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representam a rota raiz de cada pasta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Colchetes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[nome]</a:t>
            </a: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criam parâmetros dinâmicos nas rotas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Hook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useLocalSearchParams()</a:t>
            </a: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captura valores dos parâmetros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Arquivo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+not-found.jsx</a:t>
            </a: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personaliza a página de erro 404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Usar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router.replace()</a:t>
            </a:r>
            <a:r>
              <a:rPr lang="en-US" sz="130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evita retorno indesejado à página de erro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32" t="-34478" r="-2765" b="-36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" y="-18029"/>
            <a:ext cx="14630400" cy="8247629"/>
            <a:chOff x="0" y="0"/>
            <a:chExt cx="24384000" cy="137460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46099"/>
            </a:xfrm>
            <a:custGeom>
              <a:avLst/>
              <a:gdLst/>
              <a:ahLst/>
              <a:cxnLst/>
              <a:rect l="l" t="t" r="r" b="b"/>
              <a:pathLst>
                <a:path w="24384000" h="13746099">
                  <a:moveTo>
                    <a:pt x="0" y="0"/>
                  </a:moveTo>
                  <a:lnTo>
                    <a:pt x="24384000" y="0"/>
                  </a:lnTo>
                  <a:lnTo>
                    <a:pt x="24384000" y="13746099"/>
                  </a:lnTo>
                  <a:lnTo>
                    <a:pt x="0" y="13746099"/>
                  </a:lnTo>
                  <a:close/>
                </a:path>
              </a:pathLst>
            </a:custGeom>
            <a:gradFill rotWithShape="1">
              <a:gsLst>
                <a:gs pos="0">
                  <a:srgbClr val="00ABDA">
                    <a:alpha val="0"/>
                  </a:srgbClr>
                </a:gs>
                <a:gs pos="5000">
                  <a:srgbClr val="00ABDA">
                    <a:alpha val="80000"/>
                  </a:srgbClr>
                </a:gs>
                <a:gs pos="79000">
                  <a:srgbClr val="382F2D">
                    <a:alpha val="80000"/>
                  </a:srgbClr>
                </a:gs>
                <a:gs pos="88398">
                  <a:srgbClr val="0082AD">
                    <a:alpha val="6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0" y="-18029"/>
            <a:ext cx="14630392" cy="8247629"/>
            <a:chOff x="0" y="0"/>
            <a:chExt cx="24383987" cy="13746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3746099"/>
            </a:xfrm>
            <a:custGeom>
              <a:avLst/>
              <a:gdLst/>
              <a:ahLst/>
              <a:cxnLst/>
              <a:rect l="l" t="t" r="r" b="b"/>
              <a:pathLst>
                <a:path w="24384000" h="13746099">
                  <a:moveTo>
                    <a:pt x="0" y="0"/>
                  </a:moveTo>
                  <a:lnTo>
                    <a:pt x="24384000" y="0"/>
                  </a:lnTo>
                  <a:lnTo>
                    <a:pt x="24384000" y="13746099"/>
                  </a:lnTo>
                  <a:lnTo>
                    <a:pt x="0" y="13746099"/>
                  </a:lnTo>
                  <a:close/>
                </a:path>
              </a:pathLst>
            </a:custGeom>
            <a:solidFill>
              <a:srgbClr val="382F2D">
                <a:alpha val="1568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255938" y="2203438"/>
            <a:ext cx="6118525" cy="3804697"/>
            <a:chOff x="0" y="0"/>
            <a:chExt cx="10197541" cy="63411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97592" cy="6341110"/>
            </a:xfrm>
            <a:custGeom>
              <a:avLst/>
              <a:gdLst/>
              <a:ahLst/>
              <a:cxnLst/>
              <a:rect l="l" t="t" r="r" b="b"/>
              <a:pathLst>
                <a:path w="10197592" h="6341110">
                  <a:moveTo>
                    <a:pt x="0" y="0"/>
                  </a:moveTo>
                  <a:lnTo>
                    <a:pt x="10197592" y="0"/>
                  </a:lnTo>
                  <a:lnTo>
                    <a:pt x="10197592" y="6341110"/>
                  </a:lnTo>
                  <a:lnTo>
                    <a:pt x="0" y="6341110"/>
                  </a:lnTo>
                  <a:close/>
                </a:path>
              </a:pathLst>
            </a:custGeom>
            <a:solidFill>
              <a:srgbClr val="382F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Freeform 9"/>
          <p:cNvSpPr/>
          <p:nvPr/>
        </p:nvSpPr>
        <p:spPr>
          <a:xfrm>
            <a:off x="437282" y="5079347"/>
            <a:ext cx="3641385" cy="2802682"/>
          </a:xfrm>
          <a:custGeom>
            <a:avLst/>
            <a:gdLst/>
            <a:ahLst/>
            <a:cxnLst/>
            <a:rect l="l" t="t" r="r" b="b"/>
            <a:pathLst>
              <a:path w="4551731" h="3503352">
                <a:moveTo>
                  <a:pt x="0" y="0"/>
                </a:moveTo>
                <a:lnTo>
                  <a:pt x="4551730" y="0"/>
                </a:lnTo>
                <a:lnTo>
                  <a:pt x="4551730" y="3503352"/>
                </a:lnTo>
                <a:lnTo>
                  <a:pt x="0" y="3503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48" b="-14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82F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Freeform 12"/>
          <p:cNvSpPr/>
          <p:nvPr/>
        </p:nvSpPr>
        <p:spPr>
          <a:xfrm>
            <a:off x="6036892" y="3560064"/>
            <a:ext cx="2556609" cy="1109472"/>
          </a:xfrm>
          <a:custGeom>
            <a:avLst/>
            <a:gdLst/>
            <a:ahLst/>
            <a:cxnLst/>
            <a:rect l="l" t="t" r="r" b="b"/>
            <a:pathLst>
              <a:path w="3195761" h="1386840">
                <a:moveTo>
                  <a:pt x="0" y="0"/>
                </a:moveTo>
                <a:lnTo>
                  <a:pt x="3195761" y="0"/>
                </a:lnTo>
                <a:lnTo>
                  <a:pt x="3195761" y="1386840"/>
                </a:lnTo>
                <a:lnTo>
                  <a:pt x="0" y="1386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64" b="-6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1730</Words>
  <Application>Microsoft Office PowerPoint</Application>
  <PresentationFormat>Personalizar</PresentationFormat>
  <Paragraphs>201</Paragraphs>
  <Slides>22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Trebuchet MS Bold</vt:lpstr>
      <vt:lpstr>Arial</vt:lpstr>
      <vt:lpstr>Consolas</vt:lpstr>
      <vt:lpstr>Varela Round Bold</vt:lpstr>
      <vt:lpstr>Trebuchet MS</vt:lpstr>
      <vt:lpstr>Calibri</vt:lpstr>
      <vt:lpstr>Varela Round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Raphael Barreto De Oliveira</cp:lastModifiedBy>
  <cp:revision>2</cp:revision>
  <dcterms:created xsi:type="dcterms:W3CDTF">2026-02-02T14:07:12Z</dcterms:created>
  <dcterms:modified xsi:type="dcterms:W3CDTF">2026-02-02T14:08:52Z</dcterms:modified>
</cp:coreProperties>
</file>